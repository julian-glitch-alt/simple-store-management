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68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ExtraBold" panose="020B0604020202020204" charset="0"/>
      <p:bold r:id="rId18"/>
      <p:boldItalic r:id="rId19"/>
    </p:embeddedFont>
    <p:embeddedFont>
      <p:font typeface="Lexend" panose="020B0604020202020204" charset="0"/>
      <p:regular r:id="rId20"/>
      <p:bold r:id="rId21"/>
    </p:embeddedFont>
    <p:embeddedFont>
      <p:font typeface="Lexend ExtraBold" panose="020B0604020202020204" charset="0"/>
      <p:bold r:id="rId22"/>
    </p:embeddedFont>
    <p:embeddedFont>
      <p:font typeface="Montserrat" panose="00000500000000000000" pitchFamily="2" charset="0"/>
      <p:regular r:id="rId23"/>
      <p:bold r:id="rId24"/>
    </p:embeddedFont>
    <p:embeddedFont>
      <p:font typeface="Montserrat ExtraBold" panose="00000900000000000000" pitchFamily="2" charset="0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3B8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4452533" y="1333500"/>
            <a:ext cx="381938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ĐẠI HỌC TÂN TẠO | KHOA CNTT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771525" y="1747837"/>
            <a:ext cx="11181397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10B981"/>
                </a:solidFill>
                <a:latin typeface="Lexend"/>
                <a:ea typeface="Lexend"/>
                <a:cs typeface="Lexend"/>
                <a:sym typeface="Lexend"/>
              </a:rPr>
              <a:t>SIMPLE STORE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500" b="1" i="0" u="none" strike="noStrike" cap="none" dirty="0">
                <a:solidFill>
                  <a:schemeClr val="bg1"/>
                </a:solidFill>
                <a:latin typeface="Lexend"/>
                <a:ea typeface="Lexend"/>
                <a:cs typeface="Lexend"/>
                <a:sym typeface="Lexend"/>
              </a:rPr>
              <a:t>MANAGEMENT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2247423" y="3887241"/>
            <a:ext cx="8229600" cy="76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745944" y="4212907"/>
            <a:ext cx="47001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BÁO CÁO DỰ ÁN CUỐI KỲ - NHẬP MÔN LẬP TRÌNH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30BB03-B8CF-1ADB-7965-258EB84488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500" b="90000" l="9942" r="89975">
                        <a14:foregroundMark x1="36123" y1="13068" x2="45485" y2="11364"/>
                        <a14:foregroundMark x1="45485" y1="11364" x2="66363" y2="15455"/>
                        <a14:foregroundMark x1="43496" y1="6250" x2="57664" y2="7500"/>
                        <a14:foregroundMark x1="57664" y1="7500" x2="58409" y2="80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32019" y="286040"/>
            <a:ext cx="2488967" cy="18146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0340" y="1742815"/>
            <a:ext cx="5133975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875377" y="2303702"/>
            <a:ext cx="5195411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300" b="1" i="0" u="none" strike="noStrike" cap="none" dirty="0">
                <a:solidFill>
                  <a:srgbClr val="94A3B8"/>
                </a:solidFill>
                <a:latin typeface="Lexend"/>
                <a:ea typeface="Lexend"/>
                <a:cs typeface="Lexend"/>
                <a:sym typeface="Lexend"/>
              </a:rPr>
              <a:t>Giảng viên </a:t>
            </a:r>
            <a:r>
              <a:rPr lang="en-US" sz="2300" b="1" i="0" u="none" strike="noStrike" cap="none" dirty="0">
                <a:solidFill>
                  <a:srgbClr val="F8FAFC"/>
                </a:solidFill>
                <a:latin typeface="Lexend"/>
                <a:ea typeface="Lexend"/>
                <a:cs typeface="Lexend"/>
                <a:sym typeface="Lexend"/>
              </a:rPr>
              <a:t>- </a:t>
            </a:r>
            <a:r>
              <a:rPr lang="en-US" sz="23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TS. Cao Tiến Dũng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835264" y="2885815"/>
            <a:ext cx="252412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i="0" u="none" strike="noStrike" cap="none" dirty="0">
                <a:solidFill>
                  <a:srgbClr val="F8FAFC"/>
                </a:solidFill>
                <a:latin typeface="Lexend"/>
                <a:ea typeface="Lexend"/>
                <a:cs typeface="Lexend"/>
                <a:sym typeface="Lexend"/>
              </a:rPr>
              <a:t>Học 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Lexend"/>
                <a:ea typeface="Lexend"/>
                <a:cs typeface="Lexend"/>
                <a:sym typeface="Lexend"/>
              </a:rPr>
              <a:t>kỳ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Lexend"/>
                <a:ea typeface="Lexend"/>
                <a:cs typeface="Lexend"/>
                <a:sym typeface="Lexend"/>
              </a:rPr>
              <a:t> - </a:t>
            </a:r>
            <a:r>
              <a:rPr lang="en-US" sz="16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Spring 2026</a:t>
            </a:r>
            <a:endParaRPr lang="en-US"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9613" y="1669597"/>
            <a:ext cx="262509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162050" y="1614733"/>
            <a:ext cx="5133975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Phan Đức Minh</a:t>
            </a:r>
            <a:r>
              <a:rPr lang="en-US" sz="2300" dirty="0">
                <a:solidFill>
                  <a:schemeClr val="bg1"/>
                </a:solidFill>
                <a:latin typeface="Calibri"/>
                <a:ea typeface="Inter"/>
                <a:cs typeface="Calibri"/>
                <a:sym typeface="Calibri"/>
              </a:rPr>
              <a:t> - </a:t>
            </a:r>
            <a:r>
              <a:rPr lang="en-US" sz="23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MSSV: 2502052</a:t>
            </a:r>
            <a:endParaRPr sz="2300" dirty="0">
              <a:solidFill>
                <a:schemeClr val="bg1"/>
              </a:solidFill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9613" y="2419520"/>
            <a:ext cx="262509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162050" y="2364656"/>
            <a:ext cx="4961817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Dương Trí Dũng</a:t>
            </a:r>
            <a:r>
              <a:rPr lang="en-US" sz="2300" dirty="0">
                <a:solidFill>
                  <a:schemeClr val="bg1"/>
                </a:solidFill>
                <a:latin typeface="Calibri"/>
                <a:ea typeface="Inter"/>
                <a:cs typeface="Calibri"/>
                <a:sym typeface="Calibri"/>
              </a:rPr>
              <a:t> - </a:t>
            </a:r>
            <a:r>
              <a:rPr lang="en-US" sz="23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MSSV: 2502046</a:t>
            </a:r>
            <a:endParaRPr sz="2300" dirty="0">
              <a:solidFill>
                <a:schemeClr val="bg1"/>
              </a:solidFill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9613" y="3259459"/>
            <a:ext cx="262509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162051" y="3204595"/>
            <a:ext cx="4762012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Trần Hoài Nam</a:t>
            </a:r>
            <a:r>
              <a:rPr lang="en-US" sz="2300" dirty="0">
                <a:solidFill>
                  <a:schemeClr val="bg1"/>
                </a:solidFill>
                <a:latin typeface="Calibri"/>
                <a:ea typeface="Inter"/>
                <a:cs typeface="Calibri"/>
                <a:sym typeface="Calibri"/>
              </a:rPr>
              <a:t> - </a:t>
            </a:r>
            <a:r>
              <a:rPr lang="en-US" sz="23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MSSV: 2502009</a:t>
            </a:r>
            <a:endParaRPr sz="2300" dirty="0">
              <a:solidFill>
                <a:schemeClr val="bg1"/>
              </a:solidFill>
            </a:endParaRPr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9613" y="4098374"/>
            <a:ext cx="262509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162050" y="4043510"/>
            <a:ext cx="4828613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Phạm Đình Lưu</a:t>
            </a:r>
            <a:r>
              <a:rPr lang="en-US" sz="2300" dirty="0">
                <a:solidFill>
                  <a:schemeClr val="bg1"/>
                </a:solidFill>
                <a:latin typeface="Calibri"/>
                <a:ea typeface="Inter"/>
                <a:cs typeface="Calibri"/>
                <a:sym typeface="Calibri"/>
              </a:rPr>
              <a:t>- </a:t>
            </a:r>
            <a:r>
              <a:rPr lang="en-US" sz="23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MSSV: 2502075</a:t>
            </a:r>
            <a:endParaRPr sz="2300" dirty="0">
              <a:solidFill>
                <a:schemeClr val="bg1"/>
              </a:solidFill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11890" y="630026"/>
            <a:ext cx="630513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10B98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NHÓM THỰC HIỆN</a:t>
            </a:r>
            <a:endParaRPr sz="1600" dirty="0"/>
          </a:p>
        </p:txBody>
      </p:sp>
      <p:sp>
        <p:nvSpPr>
          <p:cNvPr id="2" name="Google Shape;106;p14">
            <a:extLst>
              <a:ext uri="{FF2B5EF4-FFF2-40B4-BE49-F238E27FC236}">
                <a16:creationId xmlns:a16="http://schemas.microsoft.com/office/drawing/2014/main" id="{E94761B2-4831-9AE1-5D03-DD742D9DC02A}"/>
              </a:ext>
            </a:extLst>
          </p:cNvPr>
          <p:cNvSpPr txBox="1"/>
          <p:nvPr/>
        </p:nvSpPr>
        <p:spPr>
          <a:xfrm>
            <a:off x="1162050" y="4882425"/>
            <a:ext cx="48286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Hỗ trợ: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Lê Chí Tâm</a:t>
            </a:r>
            <a:endParaRPr sz="2400" dirty="0">
              <a:solidFill>
                <a:schemeClr val="bg1"/>
              </a:solidFill>
            </a:endParaRPr>
          </a:p>
        </p:txBody>
      </p:sp>
      <p:pic>
        <p:nvPicPr>
          <p:cNvPr id="3" name="Google Shape;105;p14" descr="image.png">
            <a:extLst>
              <a:ext uri="{FF2B5EF4-FFF2-40B4-BE49-F238E27FC236}">
                <a16:creationId xmlns:a16="http://schemas.microsoft.com/office/drawing/2014/main" id="{EEE64C80-8117-5BF2-B8CE-7ED53E7B8BC1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18224" y="4937289"/>
            <a:ext cx="262509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003630"/>
            <a:ext cx="33971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275" y="2003630"/>
            <a:ext cx="3397299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3175" y="2003630"/>
            <a:ext cx="33971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62050" y="239415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162050" y="2965655"/>
            <a:ext cx="274690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8FAFC"/>
                </a:solidFill>
                <a:latin typeface="Lexend"/>
                <a:ea typeface="Lexend"/>
                <a:cs typeface="Lexend"/>
                <a:sym typeface="Lexend"/>
              </a:rPr>
              <a:t>Ngôn ngữ</a:t>
            </a:r>
            <a:endParaRPr sz="1600"/>
          </a:p>
        </p:txBody>
      </p:sp>
      <p:sp>
        <p:nvSpPr>
          <p:cNvPr id="118" name="Google Shape;118;p15"/>
          <p:cNvSpPr txBox="1"/>
          <p:nvPr/>
        </p:nvSpPr>
        <p:spPr>
          <a:xfrm>
            <a:off x="1162050" y="3365705"/>
            <a:ext cx="26161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Sử dụng Python cho toàn bộ logic hệ thống.</a:t>
            </a:r>
            <a:endParaRPr sz="1600" dirty="0"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87800" y="239415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787800" y="2965655"/>
            <a:ext cx="27470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8FAFC"/>
                </a:solidFill>
                <a:latin typeface="Lexend"/>
                <a:ea typeface="Lexend"/>
                <a:cs typeface="Lexend"/>
                <a:sym typeface="Lexend"/>
              </a:rPr>
              <a:t>Giao diện</a:t>
            </a:r>
            <a:endParaRPr sz="1600"/>
          </a:p>
        </p:txBody>
      </p:sp>
      <p:sp>
        <p:nvSpPr>
          <p:cNvPr id="121" name="Google Shape;121;p15"/>
          <p:cNvSpPr txBox="1"/>
          <p:nvPr/>
        </p:nvSpPr>
        <p:spPr>
          <a:xfrm>
            <a:off x="4787800" y="3365705"/>
            <a:ext cx="261624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PyQt5 Framework giúp xây dựng UI hiện đại, responsive.</a:t>
            </a:r>
            <a:endParaRPr sz="1600"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3700" y="239415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413700" y="2965655"/>
            <a:ext cx="274690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8FAFC"/>
                </a:solidFill>
                <a:latin typeface="Lexend"/>
                <a:ea typeface="Lexend"/>
                <a:cs typeface="Lexend"/>
                <a:sym typeface="Lexend"/>
              </a:rPr>
              <a:t>Dữ liệu</a:t>
            </a:r>
            <a:endParaRPr sz="1600"/>
          </a:p>
        </p:txBody>
      </p:sp>
      <p:sp>
        <p:nvSpPr>
          <p:cNvPr id="124" name="Google Shape;124;p15"/>
          <p:cNvSpPr txBox="1"/>
          <p:nvPr/>
        </p:nvSpPr>
        <p:spPr>
          <a:xfrm>
            <a:off x="8413700" y="3365705"/>
            <a:ext cx="26161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Pandas xử lý Dataset CSV quy mô 1,000 bản ghi.</a:t>
            </a:r>
            <a:endParaRPr sz="1600"/>
          </a:p>
        </p:txBody>
      </p:sp>
      <p:sp>
        <p:nvSpPr>
          <p:cNvPr id="125" name="Google Shape;125;p15"/>
          <p:cNvSpPr txBox="1"/>
          <p:nvPr/>
        </p:nvSpPr>
        <p:spPr>
          <a:xfrm>
            <a:off x="771525" y="771525"/>
            <a:ext cx="11181397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10B98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MỤC TIÊU &amp; CÔNG NGHỆ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5968"/>
            <a:ext cx="533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57876"/>
            <a:ext cx="5334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71500" y="1881241"/>
            <a:ext cx="5334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Sử dụng Pandas để chuyển đổi 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tệp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cứng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thành bộ nhớ RAM dạng DataFrame.</a:t>
            </a:r>
            <a:endParaRPr sz="2000"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6286500" y="1940180"/>
            <a:ext cx="5334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Cơ chế "Broadcasting" giúp tìm kiếm trên tất cả các cột cùng lúc.</a:t>
            </a:r>
            <a:endParaRPr sz="2000"/>
          </a:p>
        </p:txBody>
      </p:sp>
      <p:sp>
        <p:nvSpPr>
          <p:cNvPr id="138" name="Google Shape;138;p16"/>
          <p:cNvSpPr txBox="1"/>
          <p:nvPr/>
        </p:nvSpPr>
        <p:spPr>
          <a:xfrm>
            <a:off x="5938838" y="3570502"/>
            <a:ext cx="62531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*case=False giúp tìm kiếm không phân biệt hoa thường*</a:t>
            </a:r>
            <a:endParaRPr sz="2000"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904875" y="3262726"/>
            <a:ext cx="500062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Hiển thị lên QTableWidget qua vòng lặp tối ưu.</a:t>
            </a:r>
            <a:endParaRPr sz="2000"/>
          </a:p>
        </p:txBody>
      </p:sp>
      <p:sp>
        <p:nvSpPr>
          <p:cNvPr id="140" name="Google Shape;140;p16"/>
          <p:cNvSpPr txBox="1"/>
          <p:nvPr/>
        </p:nvSpPr>
        <p:spPr>
          <a:xfrm>
            <a:off x="871537" y="3878279"/>
            <a:ext cx="500062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Tự động định dạng kiểu dữ liệu (Số/Ngày).</a:t>
            </a:r>
            <a:endParaRPr sz="2000"/>
          </a:p>
        </p:txBody>
      </p:sp>
      <p:sp>
        <p:nvSpPr>
          <p:cNvPr id="141" name="Google Shape;141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 dirty="0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1. LOAD DỮ LIỆU    &amp;   2. TÌM KIẾM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1480003"/>
            <a:ext cx="5600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Cơ chế 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nạp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CSV</a:t>
            </a:r>
            <a:endParaRPr sz="2000"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6286500" y="1568705"/>
            <a:ext cx="5600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Lọc dữ liệu đa cột (Masking)</a:t>
            </a:r>
            <a:endParaRPr sz="2000"/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6272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2928" y="3878279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88770"/>
            <a:ext cx="5845373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97873" y="1588770"/>
            <a:ext cx="4822626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984182"/>
            <a:ext cx="5254823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66775" y="2255520"/>
            <a:ext cx="525482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Khi người dùng Click vào một dòng trong bảng, một tín hiệu (Signal) sẽ được gửi đến hệ thống để kích hoạt hàm xử lý chi tiết.</a:t>
            </a:r>
            <a:endParaRPr sz="1600"/>
          </a:p>
        </p:txBody>
      </p:sp>
      <p:sp>
        <p:nvSpPr>
          <p:cNvPr id="154" name="Google Shape;154;p17"/>
          <p:cNvSpPr txBox="1"/>
          <p:nvPr/>
        </p:nvSpPr>
        <p:spPr>
          <a:xfrm>
            <a:off x="7426523" y="2255520"/>
            <a:ext cx="389870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Truy xuất dữ liệu từ DataFrame bằng chỉ mục `iloc[idx]`.</a:t>
            </a:r>
            <a:endParaRPr sz="1600"/>
          </a:p>
        </p:txBody>
      </p:sp>
      <p:sp>
        <p:nvSpPr>
          <p:cNvPr id="155" name="Google Shape;155;p17"/>
          <p:cNvSpPr txBox="1"/>
          <p:nvPr/>
        </p:nvSpPr>
        <p:spPr>
          <a:xfrm>
            <a:off x="7426523" y="2855595"/>
            <a:ext cx="389870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Chuyển đổi toàn bộ metadata thành chuỗi định dạng (Formatted String).</a:t>
            </a:r>
            <a:endParaRPr sz="1600"/>
          </a:p>
        </p:txBody>
      </p:sp>
      <p:sp>
        <p:nvSpPr>
          <p:cNvPr id="156" name="Google Shape;156;p17"/>
          <p:cNvSpPr txBox="1"/>
          <p:nvPr/>
        </p:nvSpPr>
        <p:spPr>
          <a:xfrm>
            <a:off x="7426523" y="3455670"/>
            <a:ext cx="389870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Hiển thị lên QTextEdit ở khung bên dưới để người dùng kiểm tra thông số kỹ thuật.</a:t>
            </a:r>
            <a:endParaRPr sz="1600"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3. TƯƠNG TÁC &amp; HIỂN THỊ CHI TIẾT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66775" y="1884045"/>
            <a:ext cx="551756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Cơ chế Signal/Slot</a:t>
            </a:r>
            <a:endParaRPr sz="1600"/>
          </a:p>
        </p:txBody>
      </p:sp>
      <p:sp>
        <p:nvSpPr>
          <p:cNvPr id="159" name="Google Shape;159;p17"/>
          <p:cNvSpPr txBox="1"/>
          <p:nvPr/>
        </p:nvSpPr>
        <p:spPr>
          <a:xfrm>
            <a:off x="7093148" y="1884045"/>
            <a:ext cx="44436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Logic Hiển thị</a:t>
            </a:r>
            <a:endParaRPr sz="1600"/>
          </a:p>
        </p:txBody>
      </p:sp>
      <p:pic>
        <p:nvPicPr>
          <p:cNvPr id="160" name="Google Shape;16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93148" y="22555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93148" y="28555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93148" y="345567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47950"/>
            <a:ext cx="5334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71750"/>
            <a:ext cx="5334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571500" y="2000250"/>
            <a:ext cx="5334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Thay vì tạo dòng mới cho cùng một sản phẩm, hệ thống sẽ thực hiện kiểm tra ID trong giỏ hàng hiện tại.</a:t>
            </a:r>
            <a:endParaRPr sz="1800"/>
          </a:p>
        </p:txBody>
      </p:sp>
      <p:sp>
        <p:nvSpPr>
          <p:cNvPr id="170" name="Google Shape;170;p18"/>
          <p:cNvSpPr txBox="1"/>
          <p:nvPr/>
        </p:nvSpPr>
        <p:spPr>
          <a:xfrm>
            <a:off x="6286500" y="2000250"/>
            <a:ext cx="5334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Hệ thống tính toán ngay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lập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tức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số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tiền tạm tính dựa trên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số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lượng được chọn.</a:t>
            </a:r>
            <a:endParaRPr sz="1800"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6286500" y="3265646"/>
            <a:ext cx="5334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Đảm bảo sai số là 0% nhờ sử dụng kiểu dữ liệu Float chính xác.</a:t>
            </a:r>
            <a:endParaRPr sz="1800"/>
          </a:p>
        </p:txBody>
      </p:sp>
      <p:sp>
        <p:nvSpPr>
          <p:cNvPr id="172" name="Google Shape;172;p18"/>
          <p:cNvSpPr txBox="1"/>
          <p:nvPr/>
        </p:nvSpPr>
        <p:spPr>
          <a:xfrm>
            <a:off x="866775" y="3019425"/>
            <a:ext cx="47434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Cơ chế:</a:t>
            </a:r>
            <a:r>
              <a:rPr lang="en-US" sz="16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`if item_exists: qty += new_qty`</a:t>
            </a:r>
            <a:endParaRPr sz="1800"/>
          </a:p>
        </p:txBody>
      </p:sp>
      <p:sp>
        <p:nvSpPr>
          <p:cNvPr id="173" name="Google Shape;173;p18"/>
          <p:cNvSpPr txBox="1"/>
          <p:nvPr/>
        </p:nvSpPr>
        <p:spPr>
          <a:xfrm>
            <a:off x="866775" y="3362325"/>
            <a:ext cx="47434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➔ Giúp giỏ hàng gọn gàng và dễ quản lý hơn.</a:t>
            </a:r>
            <a:endParaRPr sz="1800"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4. LOGIC THÊM VÀO GIỎ HÀNG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1628775"/>
            <a:ext cx="5600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Giải thuật xử lý Trùng lặp</a:t>
            </a:r>
            <a:endParaRPr sz="1800"/>
          </a:p>
        </p:txBody>
      </p:sp>
      <p:sp>
        <p:nvSpPr>
          <p:cNvPr id="176" name="Google Shape;176;p18"/>
          <p:cNvSpPr txBox="1"/>
          <p:nvPr/>
        </p:nvSpPr>
        <p:spPr>
          <a:xfrm>
            <a:off x="6286500" y="1628775"/>
            <a:ext cx="5600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Tính toán Giá trị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737" y="1461135"/>
            <a:ext cx="64008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0438" y="1461135"/>
            <a:ext cx="42672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7648575" y="2087880"/>
            <a:ext cx="36766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Xóa sản phẩm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sai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sót.</a:t>
            </a:r>
            <a:endParaRPr sz="1800" dirty="0"/>
          </a:p>
        </p:txBody>
      </p:sp>
      <p:sp>
        <p:nvSpPr>
          <p:cNvPr id="184" name="Google Shape;184;p19"/>
          <p:cNvSpPr txBox="1"/>
          <p:nvPr/>
        </p:nvSpPr>
        <p:spPr>
          <a:xfrm>
            <a:off x="7648575" y="2430780"/>
            <a:ext cx="36766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Cập nhật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tổng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tiền tức thì (Real-time update).</a:t>
            </a:r>
            <a:endParaRPr sz="1800" dirty="0"/>
          </a:p>
        </p:txBody>
      </p:sp>
      <p:sp>
        <p:nvSpPr>
          <p:cNvPr id="185" name="Google Shape;185;p19"/>
          <p:cNvSpPr txBox="1"/>
          <p:nvPr/>
        </p:nvSpPr>
        <p:spPr>
          <a:xfrm>
            <a:off x="1200150" y="2087880"/>
            <a:ext cx="54768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Dữ liệu:</a:t>
            </a: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Thu thập thông tin từ danh sách giỏ hàng.</a:t>
            </a:r>
            <a:endParaRPr sz="1800"/>
          </a:p>
        </p:txBody>
      </p:sp>
      <p:sp>
        <p:nvSpPr>
          <p:cNvPr id="186" name="Google Shape;186;p19"/>
          <p:cNvSpPr txBox="1"/>
          <p:nvPr/>
        </p:nvSpPr>
        <p:spPr>
          <a:xfrm>
            <a:off x="1200150" y="2459355"/>
            <a:ext cx="54768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Thời gian:</a:t>
            </a: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Sử dụng thư viện `datetime` để lấy dấu thời gian thực của giao dịch.</a:t>
            </a:r>
            <a:endParaRPr sz="1800"/>
          </a:p>
        </p:txBody>
      </p:sp>
      <p:sp>
        <p:nvSpPr>
          <p:cNvPr id="187" name="Google Shape;187;p19"/>
          <p:cNvSpPr txBox="1"/>
          <p:nvPr/>
        </p:nvSpPr>
        <p:spPr>
          <a:xfrm>
            <a:off x="1200150" y="3059430"/>
            <a:ext cx="5476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Định dạng Receipt:</a:t>
            </a: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Sử dụng Font </a:t>
            </a: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Consolas</a:t>
            </a: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(Monospace) để căn chỉnh hóa đơn dạng bảng hoàn hảo.</a:t>
            </a:r>
            <a:endParaRPr sz="1800"/>
          </a:p>
        </p:txBody>
      </p:sp>
      <p:pic>
        <p:nvPicPr>
          <p:cNvPr id="188" name="Google Shape;18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48575" y="213741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48575" y="248031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 dirty="0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5. QUẢN LÝ 		 &amp; 		   6. THANH TOÁN</a:t>
            </a:r>
            <a:endParaRPr dirty="0"/>
          </a:p>
        </p:txBody>
      </p:sp>
      <p:sp>
        <p:nvSpPr>
          <p:cNvPr id="191" name="Google Shape;191;p19"/>
          <p:cNvSpPr txBox="1"/>
          <p:nvPr/>
        </p:nvSpPr>
        <p:spPr>
          <a:xfrm>
            <a:off x="866775" y="1716405"/>
            <a:ext cx="61007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Quy trình Checkout</a:t>
            </a:r>
            <a:endParaRPr sz="1800"/>
          </a:p>
        </p:txBody>
      </p:sp>
      <p:sp>
        <p:nvSpPr>
          <p:cNvPr id="192" name="Google Shape;192;p19"/>
          <p:cNvSpPr txBox="1"/>
          <p:nvPr/>
        </p:nvSpPr>
        <p:spPr>
          <a:xfrm>
            <a:off x="7648575" y="1716405"/>
            <a:ext cx="386048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Thao tác giỏ hàng</a:t>
            </a:r>
            <a:endParaRPr sz="1800"/>
          </a:p>
        </p:txBody>
      </p:sp>
      <p:pic>
        <p:nvPicPr>
          <p:cNvPr id="193" name="Google Shape;19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208788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245935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305943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/>
          <p:nvPr/>
        </p:nvSpPr>
        <p:spPr>
          <a:xfrm>
            <a:off x="7352710" y="2248200"/>
            <a:ext cx="408769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Bố cục 2 phần khoa học:</a:t>
            </a:r>
            <a:endParaRPr sz="1800"/>
          </a:p>
        </p:txBody>
      </p:sp>
      <p:sp>
        <p:nvSpPr>
          <p:cNvPr id="203" name="Google Shape;203;p20"/>
          <p:cNvSpPr txBox="1"/>
          <p:nvPr/>
        </p:nvSpPr>
        <p:spPr>
          <a:xfrm>
            <a:off x="7352710" y="3751245"/>
            <a:ext cx="408769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Tối ưu hóa hành trình mua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sắm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chỉ với 2-3 lượt Click.</a:t>
            </a:r>
            <a:endParaRPr sz="1800" dirty="0"/>
          </a:p>
        </p:txBody>
      </p:sp>
      <p:sp>
        <p:nvSpPr>
          <p:cNvPr id="204" name="Google Shape;204;p20"/>
          <p:cNvSpPr txBox="1"/>
          <p:nvPr/>
        </p:nvSpPr>
        <p:spPr>
          <a:xfrm>
            <a:off x="7686085" y="2591100"/>
            <a:ext cx="38322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Trái:</a:t>
            </a: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Kho dữ liệu &amp; Tìm kiếm thông minh.</a:t>
            </a:r>
            <a:endParaRPr sz="1800"/>
          </a:p>
        </p:txBody>
      </p:sp>
      <p:sp>
        <p:nvSpPr>
          <p:cNvPr id="205" name="Google Shape;205;p20"/>
          <p:cNvSpPr txBox="1"/>
          <p:nvPr/>
        </p:nvSpPr>
        <p:spPr>
          <a:xfrm>
            <a:off x="7686085" y="3126227"/>
            <a:ext cx="38322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Phải: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Giỏ hàng 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trực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quan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&amp; Điều 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khiển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thanh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toán.</a:t>
            </a:r>
            <a:endParaRPr sz="1800" dirty="0"/>
          </a:p>
        </p:txBody>
      </p:sp>
      <p:sp>
        <p:nvSpPr>
          <p:cNvPr id="206" name="Google Shape;206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MINH HỌA GIAO DIỆN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7352710" y="1838625"/>
            <a:ext cx="42920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Trình quản </a:t>
            </a:r>
            <a:r>
              <a:rPr lang="en-US" sz="1800" b="1" i="0" u="none" strike="noStrike" cap="none" dirty="0" err="1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lý</a:t>
            </a:r>
            <a:r>
              <a:rPr lang="en-US" sz="1800" b="1" i="0" u="none" strike="noStrike" cap="none" dirty="0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 tập trung</a:t>
            </a:r>
            <a:endParaRPr sz="1800" dirty="0"/>
          </a:p>
        </p:txBody>
      </p:sp>
      <p:pic>
        <p:nvPicPr>
          <p:cNvPr id="208" name="Google Shape;20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2710" y="2613411"/>
            <a:ext cx="231736" cy="246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2710" y="3126227"/>
            <a:ext cx="231736" cy="246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18DB9C-A0E5-06CD-FE95-BEF5316FD2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42" y="1530184"/>
            <a:ext cx="6611331" cy="34383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/>
        </p:nvSpPr>
        <p:spPr>
          <a:xfrm>
            <a:off x="7166176" y="3108654"/>
            <a:ext cx="3667728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Cửa sổ Checkout được thiết kế dạng Modal Dialog tách biệt, đảm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bảo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người dùng tập trung hoàn toàn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vào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việc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xác nhận đơn hàng.</a:t>
            </a:r>
            <a:endParaRPr sz="2400" dirty="0"/>
          </a:p>
        </p:txBody>
      </p:sp>
      <p:sp>
        <p:nvSpPr>
          <p:cNvPr id="224" name="Google Shape;224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 dirty="0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HÓA ĐƠN THANH TOÁN</a:t>
            </a:r>
            <a:endParaRPr dirty="0">
              <a:solidFill>
                <a:srgbClr val="10B981"/>
              </a:solidFill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7166176" y="2610573"/>
            <a:ext cx="38511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Chuyên biệt &amp; Rõ ràng</a:t>
            </a:r>
            <a:endParaRPr sz="2400" dirty="0">
              <a:solidFill>
                <a:srgbClr val="10B98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D027B0-851C-7D6F-DC6A-2959966EF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55" y="2352236"/>
            <a:ext cx="5876258" cy="26678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 txBox="1"/>
          <p:nvPr/>
        </p:nvSpPr>
        <p:spPr>
          <a:xfrm>
            <a:off x="6705600" y="2471979"/>
            <a:ext cx="50006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Persistence:</a:t>
            </a:r>
            <a:r>
              <a:rPr lang="en-US" sz="16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Chuyển sang SQLite/MySQL để bảo mật dữ liệu.</a:t>
            </a:r>
            <a:endParaRPr sz="1600"/>
          </a:p>
        </p:txBody>
      </p:sp>
      <p:sp>
        <p:nvSpPr>
          <p:cNvPr id="246" name="Google Shape;246;p23"/>
          <p:cNvSpPr txBox="1"/>
          <p:nvPr/>
        </p:nvSpPr>
        <p:spPr>
          <a:xfrm>
            <a:off x="6705600" y="3072054"/>
            <a:ext cx="5000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Security:</a:t>
            </a:r>
            <a:r>
              <a:rPr lang="en-US" sz="16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Thêm hệ thống đăng nhập &amp; phân quyền.</a:t>
            </a:r>
            <a:endParaRPr sz="1600"/>
          </a:p>
        </p:txBody>
      </p:sp>
      <p:sp>
        <p:nvSpPr>
          <p:cNvPr id="247" name="Google Shape;247;p23"/>
          <p:cNvSpPr txBox="1"/>
          <p:nvPr/>
        </p:nvSpPr>
        <p:spPr>
          <a:xfrm>
            <a:off x="6705600" y="3443529"/>
            <a:ext cx="5000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Export:</a:t>
            </a:r>
            <a:r>
              <a:rPr lang="en-US" sz="16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Xuất hóa đơn ra tệp PDF chuyên nghiệp.</a:t>
            </a:r>
            <a:endParaRPr sz="1600"/>
          </a:p>
        </p:txBody>
      </p:sp>
      <p:sp>
        <p:nvSpPr>
          <p:cNvPr id="248" name="Google Shape;248;p23"/>
          <p:cNvSpPr txBox="1"/>
          <p:nvPr/>
        </p:nvSpPr>
        <p:spPr>
          <a:xfrm>
            <a:off x="6705600" y="3815004"/>
            <a:ext cx="5000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Analytics:</a:t>
            </a:r>
            <a:r>
              <a:rPr lang="en-US" sz="16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Đồ thị thống kê doanh thu thời gian thực.</a:t>
            </a:r>
            <a:endParaRPr sz="1600"/>
          </a:p>
        </p:txBody>
      </p:sp>
      <p:sp>
        <p:nvSpPr>
          <p:cNvPr id="249" name="Google Shape;249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HƯỚNG PHÁT TRIỂN</a:t>
            </a:r>
            <a:endParaRPr/>
          </a:p>
        </p:txBody>
      </p:sp>
      <p:pic>
        <p:nvPicPr>
          <p:cNvPr id="250" name="Google Shape;25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247197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307205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344352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381500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88E0535-A090-6C30-E413-F2796F4CA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480896"/>
            <a:ext cx="5483506" cy="4112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48125"/>
            <a:ext cx="11049000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890511" y="4378523"/>
            <a:ext cx="1041082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Nhận xét: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Ứng dụng ổn định,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tốc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độ tìm kiếm dưới 0.5s. Hạn chế là chưa có Database thực thụ (đang lưu CSV) và chưa có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lịch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sử đơn hàng lâu dài.</a:t>
            </a:r>
            <a:endParaRPr sz="2400" dirty="0"/>
          </a:p>
        </p:txBody>
      </p:sp>
      <p:sp>
        <p:nvSpPr>
          <p:cNvPr id="232" name="Google Shape;232;p22"/>
          <p:cNvSpPr txBox="1"/>
          <p:nvPr/>
        </p:nvSpPr>
        <p:spPr>
          <a:xfrm>
            <a:off x="571500" y="2514600"/>
            <a:ext cx="349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100%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571500" y="3371850"/>
            <a:ext cx="349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HOÀN THIỆN TÍNH NĂNG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4349650" y="2514600"/>
            <a:ext cx="34925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1K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4349650" y="3371850"/>
            <a:ext cx="349254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DÒNG DỮ LIỆU XỬ LÝ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127950" y="2514600"/>
            <a:ext cx="349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DB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127950" y="3371850"/>
            <a:ext cx="349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HƯỚNG TƯƠNG LAI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 dirty="0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KẾT QUẢ &amp; ĐÁNH GIÁ</a:t>
            </a:r>
            <a:endParaRPr dirty="0"/>
          </a:p>
        </p:txBody>
      </p:sp>
      <p:pic>
        <p:nvPicPr>
          <p:cNvPr id="2" name="Google Shape;158;p18" descr="image.png">
            <a:extLst>
              <a:ext uri="{FF2B5EF4-FFF2-40B4-BE49-F238E27FC236}">
                <a16:creationId xmlns:a16="http://schemas.microsoft.com/office/drawing/2014/main" id="{49472212-CCE6-B446-0A1E-558909CA696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410200"/>
            <a:ext cx="1104885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6E60FA14-C714-1A2D-CE9B-1E44391C67FF}"/>
              </a:ext>
            </a:extLst>
          </p:cNvPr>
          <p:cNvSpPr txBox="1"/>
          <p:nvPr/>
        </p:nvSpPr>
        <p:spPr>
          <a:xfrm>
            <a:off x="962024" y="5800725"/>
            <a:ext cx="1023846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Nâng cấp tiếp theo: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Kết nối SQLite/MySQL, Xuất hóa đơn PDF và Hệ thống Đăng nhập.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711</Words>
  <Application>Microsoft Office PowerPoint</Application>
  <PresentationFormat>Widescreen</PresentationFormat>
  <Paragraphs>73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Inter ExtraBold</vt:lpstr>
      <vt:lpstr>Calibri</vt:lpstr>
      <vt:lpstr>Montserrat</vt:lpstr>
      <vt:lpstr>Montserrat ExtraBold</vt:lpstr>
      <vt:lpstr>Inter</vt:lpstr>
      <vt:lpstr>Arial</vt:lpstr>
      <vt:lpstr>Lexend ExtraBold</vt:lpstr>
      <vt:lpstr>Lexend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Minh Phan</cp:lastModifiedBy>
  <cp:revision>17</cp:revision>
  <dcterms:modified xsi:type="dcterms:W3CDTF">2026-05-02T15:25:39Z</dcterms:modified>
</cp:coreProperties>
</file>